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17"/>
  </p:notesMasterIdLst>
  <p:sldIdLst>
    <p:sldId id="274" r:id="rId2"/>
    <p:sldId id="300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10" r:id="rId11"/>
    <p:sldId id="311" r:id="rId12"/>
    <p:sldId id="309" r:id="rId13"/>
    <p:sldId id="301" r:id="rId14"/>
    <p:sldId id="299" r:id="rId15"/>
    <p:sldId id="282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953734"/>
    <a:srgbClr val="5E7076"/>
    <a:srgbClr val="B94441"/>
    <a:srgbClr val="E6E6E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DF86434-C016-421E-A4CA-19550ACD38F5}">
  <a:tblStyle styleId="{0DF86434-C016-421E-A4CA-19550ACD38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56" autoAdjust="0"/>
  </p:normalViewPr>
  <p:slideViewPr>
    <p:cSldViewPr snapToGrid="0">
      <p:cViewPr varScale="1">
        <p:scale>
          <a:sx n="119" d="100"/>
          <a:sy n="119" d="100"/>
        </p:scale>
        <p:origin x="-394" y="-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" name="Google Shape;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7" name="Google Shape;407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E7076"/>
              </a:buClr>
              <a:buSzPts val="4400"/>
              <a:buFont typeface="Calibri"/>
              <a:buNone/>
              <a:defRPr>
                <a:solidFill>
                  <a:srgbClr val="5E707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403648" y="2859782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5E7076"/>
              </a:buClr>
              <a:buSzPts val="3200"/>
              <a:buNone/>
              <a:defRPr>
                <a:solidFill>
                  <a:srgbClr val="5E7076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/>
          <p:nvPr/>
        </p:nvSpPr>
        <p:spPr>
          <a:xfrm>
            <a:off x="380057" y="4587974"/>
            <a:ext cx="1071893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spbu.ru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Рабочий слайд с фотографией">
  <p:cSld name="1_Рабочий слайд с фотографией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23528" y="267494"/>
            <a:ext cx="3610744" cy="421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2800"/>
              <a:buFont typeface="Calibri"/>
              <a:buNone/>
              <a:defRPr sz="2800">
                <a:solidFill>
                  <a:srgbClr val="95373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395536" y="4659982"/>
            <a:ext cx="151216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7956376" y="4587974"/>
            <a:ext cx="1071893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spbu.ru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323527" y="1419622"/>
            <a:ext cx="8704741" cy="302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Clr>
                <a:srgbClr val="5E7076"/>
              </a:buClr>
              <a:buSzPts val="2400"/>
              <a:buNone/>
              <a:defRPr sz="2400">
                <a:solidFill>
                  <a:srgbClr val="5E7076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2"/>
          </p:nvPr>
        </p:nvSpPr>
        <p:spPr>
          <a:xfrm>
            <a:off x="323247" y="833064"/>
            <a:ext cx="8705021" cy="58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Clr>
                <a:srgbClr val="5E7076"/>
              </a:buClr>
              <a:buSzPts val="2800"/>
              <a:buNone/>
              <a:defRPr sz="2800" b="1">
                <a:solidFill>
                  <a:srgbClr val="5E7076"/>
                </a:solidFill>
              </a:defRPr>
            </a:lvl1pPr>
            <a:lvl2pPr marL="914400" lvl="1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бочий слайд с фотографией">
  <p:cSld name="Рабочий слайд с фотографией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323528" y="267494"/>
            <a:ext cx="3610744" cy="421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2800"/>
              <a:buFont typeface="Calibri"/>
              <a:buNone/>
              <a:defRPr sz="2800">
                <a:solidFill>
                  <a:srgbClr val="95373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395536" y="4659982"/>
            <a:ext cx="151216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7956376" y="4587974"/>
            <a:ext cx="1071893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spbu.ru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323528" y="1059582"/>
            <a:ext cx="4038600" cy="331236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ubTitle" idx="2"/>
          </p:nvPr>
        </p:nvSpPr>
        <p:spPr>
          <a:xfrm>
            <a:off x="4572000" y="1059582"/>
            <a:ext cx="4320480" cy="3384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Clr>
                <a:srgbClr val="5E7076"/>
              </a:buClr>
              <a:buSzPts val="1800"/>
              <a:buNone/>
              <a:defRPr sz="1800">
                <a:solidFill>
                  <a:srgbClr val="5E7076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большой фотографией">
  <p:cSld name="Слайд с большой фотографией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0" y="1059582"/>
            <a:ext cx="9144000" cy="4083918"/>
          </a:xfrm>
          <a:prstGeom prst="rect">
            <a:avLst/>
          </a:prstGeom>
          <a:solidFill>
            <a:srgbClr val="BFBFBF"/>
          </a:solidFill>
          <a:ln w="9525" cap="flat" cmpd="sng">
            <a:solidFill>
              <a:srgbClr val="000000">
                <a:alpha val="20784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323528" y="267494"/>
            <a:ext cx="3610744" cy="421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2800"/>
              <a:buFont typeface="Calibri"/>
              <a:buNone/>
              <a:defRPr sz="2800">
                <a:solidFill>
                  <a:srgbClr val="95373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323528" y="4299942"/>
            <a:ext cx="8820472" cy="504056"/>
          </a:xfrm>
          <a:prstGeom prst="rect">
            <a:avLst/>
          </a:prstGeom>
          <a:solidFill>
            <a:srgbClr val="FFFFFF">
              <a:alpha val="5686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323528" y="4316113"/>
            <a:ext cx="8640960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Clr>
                <a:srgbClr val="5E7076"/>
              </a:buClr>
              <a:buSzPts val="1800"/>
              <a:buNone/>
              <a:defRPr sz="1800">
                <a:solidFill>
                  <a:srgbClr val="5E7076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крывающий слайд">
  <p:cSld name="Закрывающий слайд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/>
        </p:nvSpPr>
        <p:spPr>
          <a:xfrm>
            <a:off x="380057" y="4587974"/>
            <a:ext cx="1071893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spbu.ru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 txBox="1">
            <a:spLocks noGrp="1"/>
          </p:cNvSpPr>
          <p:nvPr>
            <p:ph type="subTitle" idx="1"/>
          </p:nvPr>
        </p:nvSpPr>
        <p:spPr>
          <a:xfrm>
            <a:off x="323528" y="1131590"/>
            <a:ext cx="856895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360"/>
              </a:spcBef>
              <a:spcAft>
                <a:spcPts val="0"/>
              </a:spcAft>
              <a:buClr>
                <a:srgbClr val="5E7076"/>
              </a:buClr>
              <a:buSzPts val="1800"/>
              <a:buNone/>
              <a:defRPr sz="1800">
                <a:solidFill>
                  <a:srgbClr val="5E7076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323528" y="267494"/>
            <a:ext cx="3610744" cy="421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2800"/>
              <a:buFont typeface="Calibri"/>
              <a:buNone/>
              <a:defRPr sz="2800">
                <a:solidFill>
                  <a:srgbClr val="95373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ctrTitle"/>
          </p:nvPr>
        </p:nvSpPr>
        <p:spPr>
          <a:xfrm>
            <a:off x="609625" y="1594204"/>
            <a:ext cx="7924750" cy="12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2400" b="1" dirty="0" smtClean="0"/>
              <a:t>Распознавание эмоций на изображениях с помощью нейронных сетей</a:t>
            </a:r>
            <a:endParaRPr lang="ru-RU" sz="2400" dirty="0"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1"/>
          </p:nvPr>
        </p:nvSpPr>
        <p:spPr>
          <a:xfrm>
            <a:off x="1371600" y="967204"/>
            <a:ext cx="64008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076"/>
              </a:buClr>
              <a:buSzPts val="3200"/>
              <a:buFont typeface="Arial"/>
              <a:buNone/>
            </a:pPr>
            <a:r>
              <a:rPr lang="ru-RU" sz="2200" b="1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Иняева</a:t>
            </a:r>
            <a:r>
              <a:rPr lang="ru-RU" sz="22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Анастасия Дмитриевна</a:t>
            </a:r>
            <a:endParaRPr sz="2200" b="1" i="0" u="none" strike="noStrike" cap="none" dirty="0"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1950700" y="109388"/>
            <a:ext cx="70713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5E707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САНКТ-ПЕТЕРБУРГСКИЙ ГОСУДАРСТВЕННЫЙ УНИВЕРСИТЕТ</a:t>
            </a:r>
            <a:endParaRPr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5E707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ФАКУЛЬТЕТ ПРИКЛАДНОЙ МАТЕМАТИКИ-ПРОЦЕССОВ УПРАВЛЕНИЯ</a:t>
            </a:r>
            <a:endParaRPr b="1" i="0" u="none" strike="noStrike" cap="none" dirty="0">
              <a:solidFill>
                <a:srgbClr val="5E7076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2828700" y="4614200"/>
            <a:ext cx="34866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0" i="0" u="none" strike="noStrike" cap="none" dirty="0" err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Санкт-Петербург</a:t>
            </a:r>
            <a:r>
              <a:rPr lang="en-US" b="0" i="0" u="none" strike="noStrike" cap="none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— 20</a:t>
            </a: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ru-RU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b="0" i="0" u="none" strike="noStrike" cap="none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5388384" y="3136674"/>
            <a:ext cx="3633616" cy="1253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dirty="0" err="1">
                <a:solidFill>
                  <a:srgbClr val="5E707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Научный</a:t>
            </a:r>
            <a:r>
              <a:rPr lang="en-US" sz="1600" b="1" dirty="0">
                <a:solidFill>
                  <a:srgbClr val="5E707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rgbClr val="5E707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руководитель</a:t>
            </a:r>
            <a:r>
              <a:rPr lang="en-US" sz="1600" b="1" i="0" u="none" strike="noStrike" cap="none" dirty="0">
                <a:solidFill>
                  <a:srgbClr val="5E7076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 </a:t>
            </a:r>
            <a:endParaRPr sz="1600" b="1" i="0" u="none" strike="noStrike" cap="none" dirty="0">
              <a:solidFill>
                <a:srgbClr val="5E7076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ru-RU" sz="1600" b="1" dirty="0">
                <a:solidFill>
                  <a:srgbClr val="5E707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Кандидат ф.-м. наук,</a:t>
            </a:r>
            <a:r>
              <a:rPr lang="en-US" sz="1600" b="1" dirty="0">
                <a:solidFill>
                  <a:srgbClr val="5E707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00" b="1" dirty="0">
                <a:solidFill>
                  <a:srgbClr val="5E707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доцент</a:t>
            </a:r>
            <a:r>
              <a:rPr lang="en-US" sz="1600" b="1" dirty="0">
                <a:solidFill>
                  <a:srgbClr val="5E707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ru-RU" sz="1600" b="1" dirty="0">
                <a:solidFill>
                  <a:srgbClr val="5E707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00" b="1" dirty="0" err="1" smtClean="0">
                <a:solidFill>
                  <a:srgbClr val="5E707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Козынченко</a:t>
            </a:r>
            <a:r>
              <a:rPr lang="ru-RU" sz="1600" b="1" dirty="0" smtClean="0">
                <a:solidFill>
                  <a:srgbClr val="5E707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Владимир Александрович</a:t>
            </a:r>
            <a:endParaRPr lang="ru-RU" sz="1600" b="1" dirty="0">
              <a:solidFill>
                <a:srgbClr val="5E707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Google Shape;44;p5"/>
          <p:cNvSpPr txBox="1"/>
          <p:nvPr/>
        </p:nvSpPr>
        <p:spPr>
          <a:xfrm>
            <a:off x="609625" y="3136674"/>
            <a:ext cx="3995573" cy="838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dirty="0" err="1">
                <a:solidFill>
                  <a:srgbClr val="5E707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Направление</a:t>
            </a:r>
            <a:r>
              <a:rPr lang="en-US" sz="1600" b="1" dirty="0">
                <a:solidFill>
                  <a:srgbClr val="5E707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rgbClr val="5E707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обучения</a:t>
            </a:r>
            <a:r>
              <a:rPr lang="en-US" sz="1600" b="1" i="0" u="none" strike="noStrike" cap="none" dirty="0">
                <a:solidFill>
                  <a:srgbClr val="5E7076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</a:t>
            </a:r>
            <a:endParaRPr sz="1600" b="1" dirty="0">
              <a:solidFill>
                <a:srgbClr val="5E707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b="1" dirty="0">
                <a:solidFill>
                  <a:srgbClr val="5E707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01.03.02 «Прикладная математика, фундаментальная информатика и программирование»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9EB5B84-8961-59A4-F483-D301D1E33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267494"/>
            <a:ext cx="5967544" cy="421555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Актуальность и проблемы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B1CF6461-1F0A-6A36-02A7-CD25962AA1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ru-RU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xmlns="" id="{50A823C7-D81A-3180-E260-6D482B28E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7" y="856851"/>
            <a:ext cx="8487964" cy="3657600"/>
          </a:xfrm>
        </p:spPr>
        <p:txBody>
          <a:bodyPr>
            <a:normAutofit fontScale="92500" lnSpcReduction="10000"/>
          </a:bodyPr>
          <a:lstStyle/>
          <a:p>
            <a:r>
              <a:rPr lang="ru-RU" sz="1800" b="1" dirty="0" smtClean="0">
                <a:latin typeface="Times New Roman" pitchFamily="18" charset="0"/>
                <a:cs typeface="Times New Roman" pitchFamily="18" charset="0"/>
              </a:rPr>
              <a:t>Актуальность:</a:t>
            </a:r>
          </a:p>
          <a:p>
            <a:pPr>
              <a:buFont typeface="Arial" pitchFamily="34" charset="0"/>
              <a:buChar char="•"/>
            </a:pP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Медицина: мониторинг пациентов, диагностика депрессии, аутизма</a:t>
            </a:r>
          </a:p>
          <a:p>
            <a:pPr>
              <a:buFont typeface="Arial" pitchFamily="34" charset="0"/>
              <a:buChar char="•"/>
            </a:pP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Безопасность: анализ поведения в толпе, аэропортах</a:t>
            </a:r>
          </a:p>
          <a:p>
            <a:pPr>
              <a:buFont typeface="Arial" pitchFamily="34" charset="0"/>
              <a:buChar char="•"/>
            </a:pP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Образование: оценка вовлечённости учеников</a:t>
            </a:r>
          </a:p>
          <a:p>
            <a:pPr>
              <a:buFont typeface="Arial" pitchFamily="34" charset="0"/>
              <a:buChar char="•"/>
            </a:pP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Расследование преступлений: анализ поведения подозреваемых, выявление стресса и лжи на допросах</a:t>
            </a:r>
          </a:p>
          <a:p>
            <a:pPr>
              <a:buFont typeface="Arial" pitchFamily="34" charset="0"/>
              <a:buChar char="•"/>
            </a:pP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Маркетинг: анализ реакции на рекламу</a:t>
            </a:r>
          </a:p>
          <a:p>
            <a:pPr>
              <a:buFont typeface="Arial" pitchFamily="34" charset="0"/>
              <a:buChar char="•"/>
            </a:pPr>
            <a:r>
              <a:rPr lang="ru-RU" sz="1800" dirty="0" err="1" smtClean="0">
                <a:latin typeface="Times New Roman" pitchFamily="18" charset="0"/>
                <a:cs typeface="Times New Roman" pitchFamily="18" charset="0"/>
              </a:rPr>
              <a:t>Human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ru-RU" sz="1800" dirty="0" err="1" smtClean="0">
                <a:latin typeface="Times New Roman" pitchFamily="18" charset="0"/>
                <a:cs typeface="Times New Roman" pitchFamily="18" charset="0"/>
              </a:rPr>
              <a:t>Computer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err="1" smtClean="0">
                <a:latin typeface="Times New Roman" pitchFamily="18" charset="0"/>
                <a:cs typeface="Times New Roman" pitchFamily="18" charset="0"/>
              </a:rPr>
              <a:t>Interaction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: адаптивные интерфейсы</a:t>
            </a:r>
          </a:p>
          <a:p>
            <a:r>
              <a:rPr lang="ru-RU" sz="1800" b="1" dirty="0" smtClean="0">
                <a:latin typeface="Times New Roman" pitchFamily="18" charset="0"/>
                <a:cs typeface="Times New Roman" pitchFamily="18" charset="0"/>
              </a:rPr>
              <a:t>Проблемы:</a:t>
            </a:r>
          </a:p>
          <a:p>
            <a:pPr>
              <a:buFont typeface="Arial" pitchFamily="34" charset="0"/>
              <a:buChar char="•"/>
            </a:pP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Низкая </a:t>
            </a:r>
            <a:r>
              <a:rPr lang="ru-RU" sz="1800" dirty="0" err="1" smtClean="0">
                <a:latin typeface="Times New Roman" pitchFamily="18" charset="0"/>
                <a:cs typeface="Times New Roman" pitchFamily="18" charset="0"/>
              </a:rPr>
              <a:t>обобщаемость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 моделей в реальных условиях из-за освещения, ракурса, окклюзий</a:t>
            </a:r>
          </a:p>
          <a:p>
            <a:pPr>
              <a:buFont typeface="Arial" pitchFamily="34" charset="0"/>
              <a:buChar char="•"/>
            </a:pP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Дисбаланс классов в </a:t>
            </a:r>
            <a:r>
              <a:rPr lang="ru-RU" sz="1800" dirty="0" err="1" smtClean="0">
                <a:latin typeface="Times New Roman" pitchFamily="18" charset="0"/>
                <a:cs typeface="Times New Roman" pitchFamily="18" charset="0"/>
              </a:rPr>
              <a:t>датасетах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37857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7" y="267494"/>
            <a:ext cx="7695057" cy="421555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Цели и задачи работы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ru-RU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323527" y="978344"/>
            <a:ext cx="8704741" cy="3465614"/>
          </a:xfrm>
        </p:spPr>
        <p:txBody>
          <a:bodyPr>
            <a:noAutofit/>
          </a:bodyPr>
          <a:lstStyle/>
          <a:p>
            <a:pPr marL="0" indent="0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Цель: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разработка системы распознавания основных эмоций по изображениям с использованием ансамбля из моделей глубокого обучения для повышения точности и надежности классификации.</a:t>
            </a:r>
          </a:p>
          <a:p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Задачи:</a:t>
            </a:r>
          </a:p>
          <a:p>
            <a:pPr lvl="0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Изучить существующие подходы и методы распознавания эмоций;</a:t>
            </a:r>
          </a:p>
          <a:p>
            <a:pPr lvl="0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Выполнить предобработку данных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RAF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DB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lvl="0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Обучить модели EfficientNet-B2,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ConvNeXt-Tiny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ViT-Small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/16;</a:t>
            </a:r>
          </a:p>
          <a:p>
            <a:pPr lvl="0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Реализовать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стекинг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ансамбль;</a:t>
            </a:r>
          </a:p>
          <a:p>
            <a:pPr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Оценить качество работы отдельных моделей и всего ансамбля по метрикам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Accuracy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F1-score.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67494"/>
            <a:ext cx="7375336" cy="421555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Модель эмоций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датасет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ru-RU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323527" y="965555"/>
            <a:ext cx="8704741" cy="3478403"/>
          </a:xfrm>
        </p:spPr>
        <p:txBody>
          <a:bodyPr>
            <a:normAutofit/>
          </a:bodyPr>
          <a:lstStyle/>
          <a:p>
            <a:pPr marL="0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Модель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Экмана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Фризена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7 классов: счастье, грусть, гнев, удивление, страх, отвращение, нейтрально</a:t>
            </a:r>
          </a:p>
          <a:p>
            <a:pPr marL="0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Использовался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датасет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Aligned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RAF‑DB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(Real-world Affective Faces Database)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15 339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изображений «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in‑the‑wild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выравненные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лица</a:t>
            </a:r>
          </a:p>
          <a:p>
            <a:pPr marL="0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Сильный дисбаланс классов: Очень много изображений классов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счастье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нейтральный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мало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страх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”, “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отвращение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”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Предобработка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ru-RU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323527" y="965555"/>
            <a:ext cx="8704741" cy="3478403"/>
          </a:xfrm>
        </p:spPr>
        <p:txBody>
          <a:bodyPr/>
          <a:lstStyle/>
          <a:p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462530" y="1119865"/>
          <a:ext cx="6096000" cy="3383280"/>
        </p:xfrm>
        <a:graphic>
          <a:graphicData uri="http://schemas.openxmlformats.org/drawingml/2006/table">
            <a:tbl>
              <a:tblPr firstRow="1" bandRow="1">
                <a:tableStyleId>{0DF86434-C016-421E-A4CA-19550ACD38F5}</a:tableStyleId>
              </a:tblPr>
              <a:tblGrid>
                <a:gridCol w="2032000"/>
                <a:gridCol w="2032000"/>
                <a:gridCol w="2032000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Модель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Аугментация (</a:t>
                      </a:r>
                      <a:r>
                        <a:rPr lang="en-US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train)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Размер входа</a:t>
                      </a:r>
                    </a:p>
                  </a:txBody>
                  <a:tcPr marL="121920" marR="12192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EfficientNet‑B2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RandomHorizontalFlip</a:t>
                      </a:r>
                      <a:r>
                        <a:rPr lang="en-US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, </a:t>
                      </a:r>
                      <a:r>
                        <a:rPr lang="en-US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RandomRotation</a:t>
                      </a:r>
                      <a:r>
                        <a:rPr lang="en-US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(5°)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224×224</a:t>
                      </a:r>
                    </a:p>
                  </a:txBody>
                  <a:tcPr marL="12192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ConvNeXt‑Tiny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RandomResizedCrop</a:t>
                      </a:r>
                      <a:r>
                        <a:rPr lang="en-US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, </a:t>
                      </a:r>
                      <a:r>
                        <a:rPr lang="en-US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HorizontalFlip</a:t>
                      </a:r>
                      <a:r>
                        <a:rPr lang="en-US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, Rotation(12°), </a:t>
                      </a:r>
                      <a:r>
                        <a:rPr lang="en-US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ColorJitter</a:t>
                      </a:r>
                      <a:r>
                        <a:rPr lang="en-US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(0.12), </a:t>
                      </a:r>
                      <a:r>
                        <a:rPr lang="en-US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RandomErasing</a:t>
                      </a:r>
                      <a:endParaRPr lang="en-US" sz="1400" b="0" i="0" u="none" strike="noStrike" cap="none" dirty="0" smtClean="0">
                        <a:solidFill>
                          <a:srgbClr val="5E7076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  <a:sym typeface="Calibri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224×224 (crop from 256)</a:t>
                      </a:r>
                    </a:p>
                  </a:txBody>
                  <a:tcPr marL="12192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ViT‑Small/16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HorizontalFlip, Rotation(15°), RandomAffine, RandAugment(m=7), ColorJitter(0.2)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224×224</a:t>
                      </a:r>
                    </a:p>
                  </a:txBody>
                  <a:tcPr marL="121920" marT="76200" marB="762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67494"/>
            <a:ext cx="5693608" cy="421555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Модели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ru-RU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323527" y="939978"/>
            <a:ext cx="8704741" cy="3503980"/>
          </a:xfrm>
        </p:spPr>
        <p:txBody>
          <a:bodyPr/>
          <a:lstStyle/>
          <a:p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494501" y="1089669"/>
          <a:ext cx="6865461" cy="3211552"/>
        </p:xfrm>
        <a:graphic>
          <a:graphicData uri="http://schemas.openxmlformats.org/drawingml/2006/table">
            <a:tbl>
              <a:tblPr firstRow="1" bandRow="1">
                <a:tableStyleId>{0DF86434-C016-421E-A4CA-19550ACD38F5}</a:tableStyleId>
              </a:tblPr>
              <a:tblGrid>
                <a:gridCol w="2288487"/>
                <a:gridCol w="2288487"/>
                <a:gridCol w="2288487"/>
              </a:tblGrid>
              <a:tr h="46943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Модель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Тип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Особенность</a:t>
                      </a:r>
                    </a:p>
                  </a:txBody>
                  <a:tcPr marL="121920" marR="121920" marT="76200" marB="76200" anchor="ctr"/>
                </a:tc>
              </a:tr>
              <a:tr h="73309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EfficientNet‑B2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Сверточная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 Нейронная Сеть (</a:t>
                      </a:r>
                      <a:r>
                        <a:rPr lang="en-US" sz="1400" b="0" i="0" u="none" strike="noStrike" cap="none" baseline="0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CNN)</a:t>
                      </a:r>
                      <a:endParaRPr lang="en-US" sz="1400" b="0" i="0" u="none" strike="noStrike" cap="none" dirty="0" smtClean="0">
                        <a:solidFill>
                          <a:srgbClr val="5E7076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  <a:sym typeface="Calibri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Составное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 масштабирование (</a:t>
                      </a:r>
                      <a:r>
                        <a:rPr lang="en-US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Compound scaling</a:t>
                      </a: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)</a:t>
                      </a:r>
                      <a:r>
                        <a:rPr lang="en-US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, MBConv, SE‑</a:t>
                      </a: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блоки</a:t>
                      </a:r>
                    </a:p>
                  </a:txBody>
                  <a:tcPr marL="121920" marT="76200" marB="76200" anchor="ctr"/>
                </a:tc>
              </a:tr>
              <a:tr h="73309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ConvNeXt‑Tiny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Сверточная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 Нейронная Сеть (</a:t>
                      </a:r>
                      <a:r>
                        <a:rPr lang="en-US" sz="1400" b="0" i="0" u="none" strike="noStrike" cap="none" baseline="0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CNN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) современная</a:t>
                      </a:r>
                      <a:endParaRPr lang="en-US" sz="1400" b="0" i="0" u="none" strike="noStrike" cap="none" dirty="0" smtClean="0">
                        <a:solidFill>
                          <a:srgbClr val="5E7076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  <a:sym typeface="Calibri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Глубинные свёртки 7×7, </a:t>
                      </a:r>
                      <a:r>
                        <a:rPr lang="en-US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GELU, </a:t>
                      </a:r>
                      <a:r>
                        <a:rPr lang="en-US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LayerNorm</a:t>
                      </a:r>
                      <a:endParaRPr lang="en-US" sz="1400" b="0" i="0" u="none" strike="noStrike" cap="none" dirty="0" smtClean="0">
                        <a:solidFill>
                          <a:srgbClr val="5E7076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  <a:sym typeface="Calibri"/>
                      </a:endParaRPr>
                    </a:p>
                  </a:txBody>
                  <a:tcPr marL="121920" marT="76200" marB="76200" anchor="ctr"/>
                </a:tc>
              </a:tr>
              <a:tr h="1003181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ViT‑Small/16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Трансформер</a:t>
                      </a: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 (</a:t>
                      </a:r>
                      <a:r>
                        <a:rPr lang="en-US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Transformer</a:t>
                      </a: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)</a:t>
                      </a:r>
                      <a:endParaRPr lang="en-US" sz="1400" b="0" i="0" u="none" strike="noStrike" cap="none" dirty="0" smtClean="0">
                        <a:solidFill>
                          <a:srgbClr val="5E7076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  <a:sym typeface="Calibri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Патчи</a:t>
                      </a: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 16×16, </a:t>
                      </a:r>
                      <a:r>
                        <a:rPr lang="en-US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self‑attention</a:t>
                      </a:r>
                      <a:r>
                        <a:rPr lang="en-US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, CLS‑</a:t>
                      </a:r>
                      <a:r>
                        <a:rPr lang="ru-RU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токен</a:t>
                      </a:r>
                      <a:endParaRPr lang="ru-RU" sz="1400" b="0" i="0" u="none" strike="noStrike" cap="none" dirty="0" smtClean="0">
                        <a:solidFill>
                          <a:srgbClr val="5E7076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  <a:sym typeface="Calibri"/>
                      </a:endParaRPr>
                    </a:p>
                  </a:txBody>
                  <a:tcPr marL="121920" marT="76200" marB="762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Результаты обучения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ru-RU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323527" y="888822"/>
            <a:ext cx="8704741" cy="3555136"/>
          </a:xfrm>
        </p:spPr>
        <p:txBody>
          <a:bodyPr/>
          <a:lstStyle/>
          <a:p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475317" y="1067867"/>
          <a:ext cx="6096000" cy="2781568"/>
        </p:xfrm>
        <a:graphic>
          <a:graphicData uri="http://schemas.openxmlformats.org/drawingml/2006/table">
            <a:tbl>
              <a:tblPr firstRow="1" bandRow="1">
                <a:tableStyleId>{0DF86434-C016-421E-A4CA-19550ACD38F5}</a:tableStyleId>
              </a:tblPr>
              <a:tblGrid>
                <a:gridCol w="2032000"/>
                <a:gridCol w="2032000"/>
                <a:gridCol w="2032000"/>
              </a:tblGrid>
              <a:tr h="69735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Модель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Test Accuracy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Macro F1</a:t>
                      </a:r>
                    </a:p>
                  </a:txBody>
                  <a:tcPr marL="121920" marR="121920" marT="76200" marB="76200" anchor="ctr"/>
                </a:tc>
              </a:tr>
              <a:tr h="69473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EfficientNet‑B2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86.18%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0.794</a:t>
                      </a:r>
                    </a:p>
                  </a:txBody>
                  <a:tcPr marL="121920" marT="76200" marB="76200" anchor="ctr"/>
                </a:tc>
              </a:tr>
              <a:tr h="69473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ConvNeXt‑Tiny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86.64%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0.786</a:t>
                      </a:r>
                    </a:p>
                  </a:txBody>
                  <a:tcPr marL="121920" marT="76200" marB="76200" anchor="ctr"/>
                </a:tc>
              </a:tr>
              <a:tr h="69473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ViT‑Small/16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86.25%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0.790</a:t>
                      </a:r>
                    </a:p>
                  </a:txBody>
                  <a:tcPr marL="121920" marT="76200" marB="762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3867" y="241916"/>
            <a:ext cx="6237132" cy="421555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Ансамбль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ru-RU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323527" y="914400"/>
            <a:ext cx="8704741" cy="3529558"/>
          </a:xfrm>
        </p:spPr>
        <p:txBody>
          <a:bodyPr/>
          <a:lstStyle/>
          <a:p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385805" y="960445"/>
          <a:ext cx="8623910" cy="3456272"/>
        </p:xfrm>
        <a:graphic>
          <a:graphicData uri="http://schemas.openxmlformats.org/drawingml/2006/table">
            <a:tbl>
              <a:tblPr firstRow="1" bandRow="1">
                <a:tableStyleId>{0DF86434-C016-421E-A4CA-19550ACD38F5}</a:tableStyleId>
              </a:tblPr>
              <a:tblGrid>
                <a:gridCol w="1724782"/>
                <a:gridCol w="1724782"/>
                <a:gridCol w="1724782"/>
                <a:gridCol w="1724782"/>
                <a:gridCol w="1724782"/>
              </a:tblGrid>
              <a:tr h="540485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1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Модель / Ансамбль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Test Accuracy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Macro F1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Fear F1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Disgust F1</a:t>
                      </a:r>
                    </a:p>
                  </a:txBody>
                  <a:tcPr marL="121920" marR="121920" marT="76200" marB="76200" anchor="ctr"/>
                </a:tc>
              </a:tr>
              <a:tr h="391628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EfficientNet‑B2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86.18%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0.7944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0.691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0.598</a:t>
                      </a:r>
                    </a:p>
                  </a:txBody>
                  <a:tcPr marL="121920" marT="76200" marB="76200" anchor="ctr"/>
                </a:tc>
              </a:tr>
              <a:tr h="391628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ConvNeXt‑Tiny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86.64%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0.7860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0.610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0.608</a:t>
                      </a:r>
                    </a:p>
                  </a:txBody>
                  <a:tcPr marL="121920" marT="76200" marB="76200" anchor="ctr"/>
                </a:tc>
              </a:tr>
              <a:tr h="341359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ViT‑Small/16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86.25%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0.7901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0.600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0.622</a:t>
                      </a:r>
                    </a:p>
                  </a:txBody>
                  <a:tcPr marL="121920" marT="76200" marB="76200" anchor="ctr"/>
                </a:tc>
              </a:tr>
              <a:tr h="391628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EN + ConvNeXt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87.65%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0.8063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0.657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0.649</a:t>
                      </a:r>
                    </a:p>
                  </a:txBody>
                  <a:tcPr marL="121920" marT="76200" marB="76200" anchor="ctr"/>
                </a:tc>
              </a:tr>
              <a:tr h="341359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EN + ViT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88.43%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0.8174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0.657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0.663</a:t>
                      </a:r>
                    </a:p>
                  </a:txBody>
                  <a:tcPr marL="121920" marT="76200" marB="76200" anchor="ctr"/>
                </a:tc>
              </a:tr>
              <a:tr h="391628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ConvNeXt + ViT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88.56%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0.8178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0.657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0.681</a:t>
                      </a:r>
                    </a:p>
                  </a:txBody>
                  <a:tcPr marL="121920" marT="76200" marB="76200" anchor="ctr"/>
                </a:tc>
              </a:tr>
              <a:tr h="540485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1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Все три (</a:t>
                      </a:r>
                      <a:r>
                        <a:rPr lang="ru-RU" sz="1400" b="1" i="0" u="none" strike="noStrike" cap="none" dirty="0" err="1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стеккинг</a:t>
                      </a:r>
                      <a:r>
                        <a:rPr lang="ru-RU" sz="1400" b="1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 с балансом</a:t>
                      </a:r>
                      <a:r>
                        <a:rPr lang="ru-RU" sz="1400" b="1" i="0" u="none" strike="noStrike" cap="none" baseline="0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 весов</a:t>
                      </a:r>
                      <a:r>
                        <a:rPr lang="ru-RU" sz="1400" b="1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)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1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89.57%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1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0.8356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1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0.672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1" i="0" u="none" strike="noStrike" cap="none" dirty="0" smtClean="0">
                          <a:solidFill>
                            <a:srgbClr val="5E7076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0.708</a:t>
                      </a:r>
                    </a:p>
                  </a:txBody>
                  <a:tcPr marL="121920" marT="76200" marB="762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Матрица ошибок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ru-RU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323527" y="927189"/>
            <a:ext cx="8704741" cy="3516769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41744" y="852020"/>
            <a:ext cx="4157264" cy="3622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67494"/>
            <a:ext cx="8276948" cy="421555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Исследование устойчивости к окклюзиям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ru-RU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Генерация окклюзий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334640" y="1415784"/>
          <a:ext cx="6096000" cy="2637028"/>
        </p:xfrm>
        <a:graphic>
          <a:graphicData uri="http://schemas.openxmlformats.org/drawingml/2006/table">
            <a:tbl>
              <a:tblPr firstRow="1" bandRow="1">
                <a:tableStyleId>{0DF86434-C016-421E-A4CA-19550ACD38F5}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b="1" kern="100" dirty="0">
                          <a:latin typeface="Times New Roman"/>
                          <a:ea typeface="Arial"/>
                          <a:cs typeface="Times New Roman"/>
                        </a:rPr>
                        <a:t>Параметр</a:t>
                      </a:r>
                      <a:endParaRPr lang="ru-RU" sz="1100" kern="1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b="1" kern="100" dirty="0" smtClean="0">
                          <a:latin typeface="Times New Roman"/>
                          <a:ea typeface="Arial"/>
                          <a:cs typeface="Times New Roman"/>
                        </a:rPr>
                        <a:t>Верхняя </a:t>
                      </a:r>
                      <a:r>
                        <a:rPr lang="ru-RU" sz="1200" b="1" kern="100" dirty="0">
                          <a:latin typeface="Times New Roman"/>
                          <a:ea typeface="Arial"/>
                          <a:cs typeface="Times New Roman"/>
                        </a:rPr>
                        <a:t>окклюзия</a:t>
                      </a:r>
                      <a:endParaRPr lang="ru-RU" sz="1100" kern="1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b="1" kern="100">
                          <a:latin typeface="Times New Roman"/>
                          <a:ea typeface="Arial"/>
                          <a:cs typeface="Times New Roman"/>
                        </a:rPr>
                        <a:t>Нижняя окклюзия</a:t>
                      </a:r>
                      <a:endParaRPr lang="ru-RU" sz="1100" kern="1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b="1" kern="100">
                          <a:latin typeface="Times New Roman"/>
                          <a:ea typeface="Arial"/>
                          <a:cs typeface="Times New Roman"/>
                        </a:rPr>
                        <a:t>Цвет</a:t>
                      </a:r>
                      <a:endParaRPr lang="ru-RU" sz="1100" kern="1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>
                          <a:latin typeface="Times New Roman"/>
                          <a:ea typeface="Arial"/>
                          <a:cs typeface="Times New Roman"/>
                        </a:rPr>
                        <a:t>Темные тона (0</a:t>
                      </a:r>
                      <a:r>
                        <a:rPr lang="en-US" sz="1200" kern="100">
                          <a:latin typeface="Times New Roman"/>
                          <a:ea typeface="Arial"/>
                          <a:cs typeface="Times New Roman"/>
                        </a:rPr>
                        <a:t>-</a:t>
                      </a:r>
                      <a:r>
                        <a:rPr lang="ru-RU" sz="1200" kern="100">
                          <a:latin typeface="Times New Roman"/>
                          <a:ea typeface="Arial"/>
                          <a:cs typeface="Times New Roman"/>
                        </a:rPr>
                        <a:t>50 </a:t>
                      </a:r>
                      <a:r>
                        <a:rPr lang="en-US" sz="1200" kern="100">
                          <a:latin typeface="Times New Roman"/>
                          <a:ea typeface="Arial"/>
                          <a:cs typeface="Times New Roman"/>
                        </a:rPr>
                        <a:t>RGB)</a:t>
                      </a:r>
                      <a:endParaRPr lang="ru-RU" sz="1100" kern="1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>
                          <a:latin typeface="Times New Roman"/>
                          <a:ea typeface="Arial"/>
                          <a:cs typeface="Times New Roman"/>
                        </a:rPr>
                        <a:t>Светлые тона (150</a:t>
                      </a:r>
                      <a:r>
                        <a:rPr lang="en-US" sz="1200" kern="100">
                          <a:latin typeface="Times New Roman"/>
                          <a:ea typeface="Arial"/>
                          <a:cs typeface="Times New Roman"/>
                        </a:rPr>
                        <a:t>-</a:t>
                      </a:r>
                      <a:r>
                        <a:rPr lang="ru-RU" sz="1200" kern="100">
                          <a:latin typeface="Times New Roman"/>
                          <a:ea typeface="Arial"/>
                          <a:cs typeface="Times New Roman"/>
                        </a:rPr>
                        <a:t>240</a:t>
                      </a:r>
                      <a:r>
                        <a:rPr lang="en-US" sz="1200" kern="100">
                          <a:latin typeface="Times New Roman"/>
                          <a:ea typeface="Arial"/>
                          <a:cs typeface="Times New Roman"/>
                        </a:rPr>
                        <a:t> RGB)</a:t>
                      </a:r>
                      <a:endParaRPr lang="ru-RU" sz="1100" kern="1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b="1" kern="100" dirty="0">
                          <a:latin typeface="Times New Roman"/>
                          <a:ea typeface="Arial"/>
                          <a:cs typeface="Times New Roman"/>
                        </a:rPr>
                        <a:t>Прозрачность</a:t>
                      </a:r>
                      <a:endParaRPr lang="ru-RU" sz="1100" kern="1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Times New Roman"/>
                          <a:ea typeface="Arial"/>
                          <a:cs typeface="Times New Roman"/>
                        </a:rPr>
                        <a:t>60-95%</a:t>
                      </a:r>
                      <a:endParaRPr lang="ru-RU" sz="1100" kern="1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Times New Roman"/>
                          <a:ea typeface="Arial"/>
                          <a:cs typeface="Times New Roman"/>
                        </a:rPr>
                        <a:t>70-95%</a:t>
                      </a:r>
                      <a:endParaRPr lang="ru-RU" sz="1100" kern="1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b="1" kern="100">
                          <a:latin typeface="Times New Roman"/>
                          <a:ea typeface="Arial"/>
                          <a:cs typeface="Times New Roman"/>
                        </a:rPr>
                        <a:t>Форма</a:t>
                      </a:r>
                      <a:endParaRPr lang="ru-RU" sz="1100" kern="1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>
                          <a:latin typeface="Times New Roman"/>
                          <a:ea typeface="Arial"/>
                          <a:cs typeface="Times New Roman"/>
                        </a:rPr>
                        <a:t>Прямоугольник или эллипс (случайно)</a:t>
                      </a:r>
                      <a:endParaRPr lang="ru-RU" sz="1100" kern="1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 dirty="0">
                          <a:latin typeface="Times New Roman"/>
                          <a:ea typeface="Arial"/>
                          <a:cs typeface="Times New Roman"/>
                        </a:rPr>
                        <a:t>Прямоугольник или эллипс (случайно)</a:t>
                      </a:r>
                      <a:endParaRPr lang="ru-RU" sz="1100" kern="1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b="1" kern="100">
                          <a:latin typeface="Times New Roman"/>
                          <a:ea typeface="Arial"/>
                          <a:cs typeface="Times New Roman"/>
                        </a:rPr>
                        <a:t>Размер</a:t>
                      </a:r>
                      <a:endParaRPr lang="ru-RU" sz="1100" kern="1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>
                          <a:latin typeface="Times New Roman"/>
                          <a:ea typeface="Arial"/>
                          <a:cs typeface="Times New Roman"/>
                        </a:rPr>
                        <a:t>120-200% от области глаз</a:t>
                      </a:r>
                      <a:endParaRPr lang="ru-RU" sz="1100" kern="1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>
                          <a:latin typeface="Times New Roman"/>
                          <a:ea typeface="Arial"/>
                          <a:cs typeface="Times New Roman"/>
                        </a:rPr>
                        <a:t>120-240% от области рта</a:t>
                      </a:r>
                      <a:endParaRPr lang="ru-RU" sz="1100" kern="1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b="1" kern="100">
                          <a:latin typeface="Times New Roman"/>
                          <a:ea typeface="Arial"/>
                          <a:cs typeface="Times New Roman"/>
                        </a:rPr>
                        <a:t>Положение </a:t>
                      </a:r>
                      <a:endParaRPr lang="ru-RU" sz="1100" kern="1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>
                          <a:latin typeface="Times New Roman"/>
                          <a:ea typeface="Arial"/>
                          <a:cs typeface="Times New Roman"/>
                        </a:rPr>
                        <a:t>Случайное смещение до </a:t>
                      </a:r>
                      <a:endParaRPr lang="ru-RU" sz="1100" kern="1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>
                          <a:latin typeface="Times New Roman"/>
                          <a:ea typeface="Arial"/>
                          <a:cs typeface="Times New Roman"/>
                        </a:rPr>
                        <a:t>Случайное смещение до </a:t>
                      </a:r>
                      <a:endParaRPr lang="ru-RU" sz="1100" kern="1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b="1" kern="100">
                          <a:latin typeface="Times New Roman"/>
                          <a:ea typeface="Arial"/>
                          <a:cs typeface="Times New Roman"/>
                        </a:rPr>
                        <a:t>Тип окклюзии</a:t>
                      </a:r>
                      <a:endParaRPr lang="ru-RU" sz="1100" kern="1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>
                          <a:latin typeface="Times New Roman"/>
                          <a:ea typeface="Arial"/>
                          <a:cs typeface="Times New Roman"/>
                        </a:rPr>
                        <a:t>Выбирался случайно с вероятностью 50%</a:t>
                      </a:r>
                      <a:endParaRPr lang="ru-RU" sz="1100" kern="10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 dirty="0">
                          <a:latin typeface="Times New Roman"/>
                          <a:ea typeface="Arial"/>
                          <a:cs typeface="Times New Roman"/>
                        </a:rPr>
                        <a:t>Выбирался случайно с вероятностью 50%</a:t>
                      </a:r>
                      <a:endParaRPr lang="ru-RU" sz="1100" kern="100" dirty="0"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0260" y="336750"/>
            <a:ext cx="8334497" cy="421555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Исследование устойчивости к окклюзиям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>
          <a:xfrm>
            <a:off x="747229" y="4927476"/>
            <a:ext cx="1512168" cy="216024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Выводы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ru-RU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323527" y="920794"/>
            <a:ext cx="8704741" cy="3523164"/>
          </a:xfrm>
        </p:spPr>
        <p:txBody>
          <a:bodyPr/>
          <a:lstStyle/>
          <a:p>
            <a:pPr marL="0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Ключевые результаты:</a:t>
            </a:r>
          </a:p>
          <a:p>
            <a:pPr marL="0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Ансамбль достиг 89,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57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% точности 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Macro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F1 0,83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56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Прирост к лучшей одиночной модели составил +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2,93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% по точности и +0,042 по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Macro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F1.</a:t>
            </a:r>
          </a:p>
          <a:p>
            <a:pPr marL="0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Сложный и средний классы —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Disgust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Anger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усилены на 8,6 и 3,4 пункта соответственно.</a:t>
            </a:r>
          </a:p>
          <a:p>
            <a:pPr marL="0">
              <a:buFont typeface="Arial" pitchFamily="34" charset="0"/>
              <a:buChar char="•"/>
            </a:pP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Ablation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подтвердил, что каждая из трёх моделей вносит уникальный вклад.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0EB38E8-207A-EEB5-AA56-709259D01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литературы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1270BBE5-4692-7D2E-0E4F-A1BF03321F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ru-RU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xmlns="" id="{594DB760-251A-6AFC-6D7C-BA0A3C523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846598"/>
            <a:ext cx="8454712" cy="3579098"/>
          </a:xfrm>
        </p:spPr>
        <p:txBody>
          <a:bodyPr>
            <a:normAutofit fontScale="92500"/>
          </a:bodyPr>
          <a:lstStyle/>
          <a:p>
            <a:pPr marL="482600" lvl="0" indent="-457200">
              <a:buAutoNum type="arabicParenR"/>
            </a:pPr>
            <a:r>
              <a:rPr lang="en-US" dirty="0" err="1" smtClean="0"/>
              <a:t>EfficientNet</a:t>
            </a:r>
            <a:r>
              <a:rPr lang="en-US" dirty="0" smtClean="0"/>
              <a:t>: Rethinking Model Scaling for </a:t>
            </a:r>
            <a:r>
              <a:rPr lang="en-US" dirty="0" err="1" smtClean="0"/>
              <a:t>Convolutional</a:t>
            </a:r>
            <a:r>
              <a:rPr lang="en-US" dirty="0" smtClean="0"/>
              <a:t> Neural Networks</a:t>
            </a:r>
            <a:r>
              <a:rPr lang="ru-RU" dirty="0" smtClean="0"/>
              <a:t>, </a:t>
            </a:r>
            <a:r>
              <a:rPr lang="en-US" dirty="0" err="1" smtClean="0"/>
              <a:t>Mingxing</a:t>
            </a:r>
            <a:r>
              <a:rPr lang="en-US" dirty="0" smtClean="0"/>
              <a:t> Tan </a:t>
            </a:r>
            <a:endParaRPr lang="ru-RU" dirty="0" smtClean="0"/>
          </a:p>
          <a:p>
            <a:pPr marL="482600" lvl="0" indent="-457200">
              <a:buAutoNum type="arabicParenR"/>
            </a:pPr>
            <a:r>
              <a:rPr lang="en-US" dirty="0" smtClean="0"/>
              <a:t>A </a:t>
            </a:r>
            <a:r>
              <a:rPr lang="en-US" dirty="0" err="1" smtClean="0"/>
              <a:t>ConvNet</a:t>
            </a:r>
            <a:r>
              <a:rPr lang="en-US" dirty="0" smtClean="0"/>
              <a:t> for the 2020s</a:t>
            </a:r>
            <a:r>
              <a:rPr lang="ru-RU" dirty="0" smtClean="0"/>
              <a:t>, </a:t>
            </a:r>
            <a:r>
              <a:rPr lang="en-US" dirty="0" err="1" smtClean="0"/>
              <a:t>Zhuang</a:t>
            </a:r>
            <a:r>
              <a:rPr lang="en-US" dirty="0" smtClean="0"/>
              <a:t> Liu</a:t>
            </a:r>
            <a:endParaRPr lang="ru-RU" dirty="0" smtClean="0"/>
          </a:p>
          <a:p>
            <a:pPr marL="482600" indent="-457200">
              <a:buFont typeface="Arial"/>
              <a:buAutoNum type="arabicParenR"/>
            </a:pPr>
            <a:r>
              <a:rPr lang="en-US" dirty="0" smtClean="0"/>
              <a:t>AN IMAGE IS WORTH 16X16 WORDS: TRANSFORMERS FOR IMAGE RECOGNITION AT SCALE</a:t>
            </a:r>
            <a:r>
              <a:rPr lang="ru-RU" dirty="0" smtClean="0"/>
              <a:t>, </a:t>
            </a:r>
            <a:r>
              <a:rPr lang="en-US" dirty="0" err="1" smtClean="0"/>
              <a:t>Alexey</a:t>
            </a:r>
            <a:r>
              <a:rPr lang="en-US" dirty="0" smtClean="0"/>
              <a:t> </a:t>
            </a:r>
            <a:r>
              <a:rPr lang="en-US" dirty="0" err="1" smtClean="0"/>
              <a:t>Dosovitskiy</a:t>
            </a:r>
            <a:endParaRPr lang="ru-RU" dirty="0" err="1" smtClean="0"/>
          </a:p>
          <a:p>
            <a:pPr marL="482600" indent="-457200">
              <a:buFont typeface="Arial"/>
              <a:buAutoNum type="arabicParenR"/>
            </a:pPr>
            <a:r>
              <a:rPr lang="en-US" dirty="0" smtClean="0"/>
              <a:t>Systematic Review of Emotion Detection with Computer Vision</a:t>
            </a:r>
            <a:r>
              <a:rPr lang="ru-RU" dirty="0" smtClean="0"/>
              <a:t> </a:t>
            </a:r>
            <a:r>
              <a:rPr lang="en-US" dirty="0" smtClean="0"/>
              <a:t>and Deep Learning</a:t>
            </a:r>
            <a:r>
              <a:rPr lang="ru-RU" dirty="0" smtClean="0"/>
              <a:t>, </a:t>
            </a:r>
            <a:r>
              <a:rPr lang="en-US" dirty="0" smtClean="0"/>
              <a:t>Rafael Pereira</a:t>
            </a:r>
            <a:endParaRPr lang="ru-RU" dirty="0" smtClean="0"/>
          </a:p>
          <a:p>
            <a:pPr marL="482600" indent="-457200">
              <a:lnSpc>
                <a:spcPct val="110000"/>
              </a:lnSpc>
              <a:buFont typeface="Arial"/>
              <a:buAutoNum type="arabicParenR"/>
            </a:pPr>
            <a:r>
              <a:rPr lang="en-US" dirty="0" smtClean="0"/>
              <a:t>New Trends in Emotion Recognition Using Image Analysis by</a:t>
            </a:r>
            <a:r>
              <a:rPr lang="ru-RU" dirty="0" smtClean="0"/>
              <a:t> </a:t>
            </a:r>
            <a:r>
              <a:rPr lang="en-US" dirty="0" smtClean="0"/>
              <a:t>Neural Networks, A Systematic Review</a:t>
            </a:r>
            <a:r>
              <a:rPr lang="ru-RU" dirty="0" smtClean="0"/>
              <a:t>, </a:t>
            </a:r>
            <a:r>
              <a:rPr lang="en-US" dirty="0" err="1" smtClean="0"/>
              <a:t>Andrada-Livia</a:t>
            </a:r>
            <a:r>
              <a:rPr lang="en-US" dirty="0" smtClean="0"/>
              <a:t> </a:t>
            </a:r>
            <a:r>
              <a:rPr lang="en-US" dirty="0" err="1" smtClean="0"/>
              <a:t>Cîrneanu</a:t>
            </a:r>
            <a:endParaRPr lang="ru-RU" dirty="0" err="1" smtClean="0"/>
          </a:p>
        </p:txBody>
      </p:sp>
    </p:spTree>
    <p:extLst>
      <p:ext uri="{BB962C8B-B14F-4D97-AF65-F5344CB8AC3E}">
        <p14:creationId xmlns:p14="http://schemas.microsoft.com/office/powerpoint/2010/main" xmlns="" val="4036382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E02A363-317B-2AD2-68DA-CA084A14E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B94441"/>
                </a:solidFill>
              </a:rPr>
              <a:t>Код</a:t>
            </a:r>
            <a:endParaRPr lang="ru-RU" dirty="0">
              <a:solidFill>
                <a:srgbClr val="B94441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849B01BA-DA1B-E001-562F-3C48C102EF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ru-RU"/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1166260" y="3982888"/>
            <a:ext cx="63818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31800" algn="ctr" defTabSz="914400" eaLnBrk="1" fontAlgn="base" latinLnBrk="0" hangingPunct="1">
              <a:lnSpc>
                <a:spcPct val="90000"/>
              </a:lnSpc>
              <a:spcBef>
                <a:spcPts val="480"/>
              </a:spcBef>
              <a:buClr>
                <a:srgbClr val="5E7076"/>
              </a:buClr>
              <a:buSzPts val="2400"/>
              <a:tabLst/>
            </a:pPr>
            <a:r>
              <a:rPr lang="en-US" sz="2000" b="1" dirty="0" smtClean="0">
                <a:solidFill>
                  <a:srgbClr val="953734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https://github.com/lilacmoon91/EmotionsRecognition.git</a:t>
            </a:r>
            <a:endParaRPr lang="ru-RU" sz="2000" b="1" dirty="0" smtClean="0">
              <a:solidFill>
                <a:srgbClr val="953734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pic>
        <p:nvPicPr>
          <p:cNvPr id="9" name="Рисунок 8" descr="f6d965beac110c406d798b0937da4b5b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3640281" y="1640031"/>
            <a:ext cx="1863437" cy="186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36105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1"/>
          <p:cNvSpPr txBox="1">
            <a:spLocks noGrp="1"/>
          </p:cNvSpPr>
          <p:nvPr>
            <p:ph type="ctrTitle"/>
          </p:nvPr>
        </p:nvSpPr>
        <p:spPr>
          <a:xfrm>
            <a:off x="685800" y="1869382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b="1" dirty="0" err="1"/>
              <a:t>Спасибо</a:t>
            </a:r>
            <a:r>
              <a:rPr lang="en-US" b="1" dirty="0"/>
              <a:t> </a:t>
            </a:r>
            <a:r>
              <a:rPr lang="en-US" b="1" dirty="0" err="1"/>
              <a:t>за</a:t>
            </a:r>
            <a:r>
              <a:rPr lang="en-US" b="1" dirty="0"/>
              <a:t> </a:t>
            </a:r>
            <a:r>
              <a:rPr lang="en-US" b="1" dirty="0" err="1"/>
              <a:t>внимание</a:t>
            </a:r>
            <a:r>
              <a:rPr lang="en-US" b="1" dirty="0"/>
              <a:t>!</a:t>
            </a:r>
            <a:endParaRPr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1640</TotalTime>
  <Words>614</Words>
  <Application>Microsoft Office PowerPoint</Application>
  <PresentationFormat>Экран (16:9)</PresentationFormat>
  <Paragraphs>167</Paragraphs>
  <Slides>15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Распознавание эмоций на изображениях с помощью нейронных сетей</vt:lpstr>
      <vt:lpstr>Актуальность и проблемы</vt:lpstr>
      <vt:lpstr>Цели и задачи работы</vt:lpstr>
      <vt:lpstr>Модель эмоций и датасет</vt:lpstr>
      <vt:lpstr>Предобработка</vt:lpstr>
      <vt:lpstr>Модели</vt:lpstr>
      <vt:lpstr>Результаты обучения</vt:lpstr>
      <vt:lpstr>Ансамбль</vt:lpstr>
      <vt:lpstr>Матрица ошибок</vt:lpstr>
      <vt:lpstr>Исследование устойчивости к окклюзиям</vt:lpstr>
      <vt:lpstr>Исследование устойчивости к окклюзиям</vt:lpstr>
      <vt:lpstr>Выводы</vt:lpstr>
      <vt:lpstr>Список литературы</vt:lpstr>
      <vt:lpstr>Код</vt:lpstr>
      <vt:lpstr>Спасибо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Исследование методов регулирования токсичности текста при парафразе</dc:title>
  <dc:creator>Никита Ламзин</dc:creator>
  <cp:lastModifiedBy>Pulse_GL66</cp:lastModifiedBy>
  <cp:revision>21</cp:revision>
  <dcterms:modified xsi:type="dcterms:W3CDTF">2026-05-09T20:44:39Z</dcterms:modified>
</cp:coreProperties>
</file>